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Arsenica Antiqua Bold" charset="1" panose="00000800000000000000"/>
      <p:regular r:id="rId18"/>
    </p:embeddedFont>
    <p:embeddedFont>
      <p:font typeface="Arsenica Antiqua" charset="1" panose="00000500000000000000"/>
      <p:regular r:id="rId19"/>
    </p:embeddedFont>
    <p:embeddedFont>
      <p:font typeface="Arial Italics" charset="1" panose="020B060402020209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0"/>
            <a:ext cx="10972800" cy="2560320"/>
            <a:chOff x="0" y="0"/>
            <a:chExt cx="14630400" cy="3413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63040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KHINTS+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4572000"/>
            <a:ext cx="12801600" cy="1280160"/>
            <a:chOff x="0" y="0"/>
            <a:chExt cx="170688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70688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Plateforme Mobile de Ressources Pédagogiques de l'ESP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6035040"/>
            <a:ext cx="7315200" cy="73152"/>
            <a:chOff x="0" y="0"/>
            <a:chExt cx="97536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97536"/>
            </a:xfrm>
            <a:custGeom>
              <a:avLst/>
              <a:gdLst/>
              <a:ahLst/>
              <a:cxnLst/>
              <a:rect r="r" b="b" t="t" l="l"/>
              <a:pathLst>
                <a:path h="9753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9808" y="7756017"/>
            <a:ext cx="10972800" cy="1478712"/>
            <a:chOff x="0" y="0"/>
            <a:chExt cx="14630400" cy="1971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971616"/>
            </a:xfrm>
            <a:custGeom>
              <a:avLst/>
              <a:gdLst/>
              <a:ahLst/>
              <a:cxnLst/>
              <a:rect r="r" b="b" t="t" l="l"/>
              <a:pathLst>
                <a:path h="19716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971616"/>
                  </a:lnTo>
                  <a:lnTo>
                    <a:pt x="0" y="1971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853" r="0" b="-6932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4630400" cy="20573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FFFFFF"/>
                  </a:solidFill>
                  <a:latin typeface="Arsenica Antiqua Bold"/>
                  <a:ea typeface="Arsenica Antiqua Bold"/>
                  <a:cs typeface="Arsenica Antiqua Bold"/>
                  <a:sym typeface="Arsenica Antiqua Bold"/>
                </a:rPr>
                <a:t>Groupe 2 :</a:t>
              </a:r>
              <a:r>
                <a:rPr lang="en-US" sz="2900">
                  <a:solidFill>
                    <a:srgbClr val="FFFFFF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 Daba SENE Mansour CAMARA Saynabou GUEYE Mouhamadou Mouhtada NDIAYE Moussa Gatta BA Harouna Dah DIARRA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7784" y="9555480"/>
            <a:ext cx="10972800" cy="731520"/>
            <a:chOff x="0" y="0"/>
            <a:chExt cx="146304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04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C4E8"/>
                  </a:solidFill>
                  <a:latin typeface="Arial"/>
                  <a:ea typeface="Arial"/>
                  <a:cs typeface="Arial"/>
                  <a:sym typeface="Arial"/>
                </a:rPr>
                <a:t>L3 GLSi — ESP/UCAD — Année 2025–2026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303633" y="6035040"/>
            <a:ext cx="5554453" cy="14203889"/>
          </a:xfrm>
          <a:custGeom>
            <a:avLst/>
            <a:gdLst/>
            <a:ahLst/>
            <a:cxnLst/>
            <a:rect r="r" b="b" t="t" l="l"/>
            <a:pathLst>
              <a:path h="14203889" w="5554453">
                <a:moveTo>
                  <a:pt x="0" y="0"/>
                </a:moveTo>
                <a:lnTo>
                  <a:pt x="5554453" y="0"/>
                </a:lnTo>
                <a:lnTo>
                  <a:pt x="5554453" y="14203889"/>
                </a:lnTo>
                <a:lnTo>
                  <a:pt x="0" y="14203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796" t="-2977" r="-15554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01168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46304"/>
            <a:ext cx="1463040" cy="1645920"/>
            <a:chOff x="0" y="0"/>
            <a:chExt cx="195072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36576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Contexte &amp; Problématique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2470" y="2358390"/>
            <a:ext cx="16863060" cy="1592580"/>
            <a:chOff x="0" y="0"/>
            <a:chExt cx="22484080" cy="212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22433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84080" cy="2123440"/>
            </a:xfrm>
            <a:custGeom>
              <a:avLst/>
              <a:gdLst/>
              <a:ahLst/>
              <a:cxnLst/>
              <a:rect r="r" b="b" t="t" l="l"/>
              <a:pathLst>
                <a:path h="2123440" w="22484080">
                  <a:moveTo>
                    <a:pt x="25400" y="0"/>
                  </a:moveTo>
                  <a:lnTo>
                    <a:pt x="22458680" y="0"/>
                  </a:lnTo>
                  <a:cubicBezTo>
                    <a:pt x="22472650" y="0"/>
                    <a:pt x="22484080" y="11430"/>
                    <a:pt x="22484080" y="25400"/>
                  </a:cubicBezTo>
                  <a:lnTo>
                    <a:pt x="22484080" y="2098040"/>
                  </a:lnTo>
                  <a:cubicBezTo>
                    <a:pt x="22484080" y="2112010"/>
                    <a:pt x="22472650" y="2123440"/>
                    <a:pt x="22458680" y="2123440"/>
                  </a:cubicBezTo>
                  <a:lnTo>
                    <a:pt x="25400" y="2123440"/>
                  </a:lnTo>
                  <a:cubicBezTo>
                    <a:pt x="11430" y="2123440"/>
                    <a:pt x="0" y="2112010"/>
                    <a:pt x="0" y="2098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98040"/>
                  </a:lnTo>
                  <a:lnTo>
                    <a:pt x="25400" y="2098040"/>
                  </a:lnTo>
                  <a:lnTo>
                    <a:pt x="25400" y="2072640"/>
                  </a:lnTo>
                  <a:lnTo>
                    <a:pt x="22458680" y="2072640"/>
                  </a:lnTo>
                  <a:lnTo>
                    <a:pt x="22458680" y="2098040"/>
                  </a:lnTo>
                  <a:lnTo>
                    <a:pt x="22433280" y="2098040"/>
                  </a:lnTo>
                  <a:lnTo>
                    <a:pt x="22433280" y="25400"/>
                  </a:lnTo>
                  <a:lnTo>
                    <a:pt x="22458680" y="25400"/>
                  </a:lnTo>
                  <a:lnTo>
                    <a:pt x="22458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468880"/>
            <a:ext cx="16093440" cy="1371600"/>
            <a:chOff x="0" y="0"/>
            <a:chExt cx="2145792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4579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Qu'est-ce qu'un khint ? </a:t>
              </a:r>
              <a:r>
                <a:rPr lang="en-US" sz="2799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À l'ESP, les khints désignent les anciennes épreuves (DS, CC, examens, concours) que les étudiants se transmettent entre eux pour préparer leurs évaluations.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5943" y="4284983"/>
            <a:ext cx="4231643" cy="5146043"/>
            <a:chOff x="0" y="0"/>
            <a:chExt cx="5642191" cy="68613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42102" cy="6861301"/>
            </a:xfrm>
            <a:custGeom>
              <a:avLst/>
              <a:gdLst/>
              <a:ahLst/>
              <a:cxnLst/>
              <a:rect r="r" b="b" t="t" l="l"/>
              <a:pathLst>
                <a:path h="6861301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6844411"/>
                  </a:lnTo>
                  <a:cubicBezTo>
                    <a:pt x="5642102" y="6853809"/>
                    <a:pt x="5634482" y="6861301"/>
                    <a:pt x="56252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5625211" y="6827520"/>
                  </a:lnTo>
                  <a:lnTo>
                    <a:pt x="5625211" y="6844411"/>
                  </a:lnTo>
                  <a:lnTo>
                    <a:pt x="5608320" y="684441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4297680"/>
            <a:ext cx="4206240" cy="219456"/>
            <a:chOff x="0" y="0"/>
            <a:chExt cx="5608320" cy="292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8320" cy="292608"/>
            </a:xfrm>
            <a:custGeom>
              <a:avLst/>
              <a:gdLst/>
              <a:ahLst/>
              <a:cxnLst/>
              <a:rect r="r" b="b" t="t" l="l"/>
              <a:pathLst>
                <a:path h="2926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1520" y="4572000"/>
            <a:ext cx="1097280" cy="914400"/>
            <a:chOff x="0" y="0"/>
            <a:chExt cx="146304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630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5486400"/>
            <a:ext cx="3840480" cy="914400"/>
            <a:chOff x="0" y="0"/>
            <a:chExt cx="51206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206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Désorganisation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6492240"/>
            <a:ext cx="3840480" cy="2560320"/>
            <a:chOff x="0" y="0"/>
            <a:chExt cx="5120640" cy="3413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120640" cy="343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Ressources éparpillées dans des dizaines de groupes WhatsApp et Telegram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16503" y="4284983"/>
            <a:ext cx="4231643" cy="5146043"/>
            <a:chOff x="0" y="0"/>
            <a:chExt cx="5642191" cy="6861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6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2102" cy="6861301"/>
            </a:xfrm>
            <a:custGeom>
              <a:avLst/>
              <a:gdLst/>
              <a:ahLst/>
              <a:cxnLst/>
              <a:rect r="r" b="b" t="t" l="l"/>
              <a:pathLst>
                <a:path h="6861301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6844411"/>
                  </a:lnTo>
                  <a:cubicBezTo>
                    <a:pt x="5642102" y="6853809"/>
                    <a:pt x="5634482" y="6861301"/>
                    <a:pt x="56252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5625211" y="6827520"/>
                  </a:lnTo>
                  <a:lnTo>
                    <a:pt x="5625211" y="6844411"/>
                  </a:lnTo>
                  <a:lnTo>
                    <a:pt x="5608320" y="684441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029200" y="4297680"/>
            <a:ext cx="4206240" cy="219456"/>
            <a:chOff x="0" y="0"/>
            <a:chExt cx="5608320" cy="292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292608"/>
            </a:xfrm>
            <a:custGeom>
              <a:avLst/>
              <a:gdLst/>
              <a:ahLst/>
              <a:cxnLst/>
              <a:rect r="r" b="b" t="t" l="l"/>
              <a:pathLst>
                <a:path h="2926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12080" y="4572000"/>
            <a:ext cx="1097280" cy="914400"/>
            <a:chOff x="0" y="0"/>
            <a:chExt cx="14630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4630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E5FA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212080" y="5486400"/>
            <a:ext cx="3840480" cy="914400"/>
            <a:chOff x="0" y="0"/>
            <a:chExt cx="512064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1206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Liens cassés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12080" y="6492240"/>
            <a:ext cx="3840480" cy="2560320"/>
            <a:chOff x="0" y="0"/>
            <a:chExt cx="5120640" cy="3413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20640" cy="343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Liens Google Drive expirés, fichiers perdus sans recours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97063" y="4284983"/>
            <a:ext cx="4231643" cy="5146043"/>
            <a:chOff x="0" y="0"/>
            <a:chExt cx="5642191" cy="68613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42102" cy="6861301"/>
            </a:xfrm>
            <a:custGeom>
              <a:avLst/>
              <a:gdLst/>
              <a:ahLst/>
              <a:cxnLst/>
              <a:rect r="r" b="b" t="t" l="l"/>
              <a:pathLst>
                <a:path h="6861301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6844411"/>
                  </a:lnTo>
                  <a:cubicBezTo>
                    <a:pt x="5642102" y="6853809"/>
                    <a:pt x="5634482" y="6861301"/>
                    <a:pt x="56252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5625211" y="6827520"/>
                  </a:lnTo>
                  <a:lnTo>
                    <a:pt x="5625211" y="6844411"/>
                  </a:lnTo>
                  <a:lnTo>
                    <a:pt x="5608320" y="684441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09760" y="4297680"/>
            <a:ext cx="4206240" cy="219456"/>
            <a:chOff x="0" y="0"/>
            <a:chExt cx="5608320" cy="2926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08320" cy="292608"/>
            </a:xfrm>
            <a:custGeom>
              <a:avLst/>
              <a:gdLst/>
              <a:ahLst/>
              <a:cxnLst/>
              <a:rect r="r" b="b" t="t" l="l"/>
              <a:pathLst>
                <a:path h="2926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2640" y="4572000"/>
            <a:ext cx="1097280" cy="914400"/>
            <a:chOff x="0" y="0"/>
            <a:chExt cx="146304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4630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92640" y="5486400"/>
            <a:ext cx="3840480" cy="914400"/>
            <a:chOff x="0" y="0"/>
            <a:chExt cx="512064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1206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 de filtrage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92640" y="6492240"/>
            <a:ext cx="3840480" cy="2560320"/>
            <a:chOff x="0" y="0"/>
            <a:chExt cx="5120640" cy="3413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120640" cy="343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Doublons, mauvaise qualité, aucune vérification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977623" y="4284983"/>
            <a:ext cx="4231643" cy="5146043"/>
            <a:chOff x="0" y="0"/>
            <a:chExt cx="5642191" cy="6861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6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42102" cy="6861301"/>
            </a:xfrm>
            <a:custGeom>
              <a:avLst/>
              <a:gdLst/>
              <a:ahLst/>
              <a:cxnLst/>
              <a:rect r="r" b="b" t="t" l="l"/>
              <a:pathLst>
                <a:path h="6861301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6844411"/>
                  </a:lnTo>
                  <a:cubicBezTo>
                    <a:pt x="5642102" y="6853809"/>
                    <a:pt x="5634482" y="6861301"/>
                    <a:pt x="56252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5625211" y="6827520"/>
                  </a:lnTo>
                  <a:lnTo>
                    <a:pt x="5625211" y="6844411"/>
                  </a:lnTo>
                  <a:lnTo>
                    <a:pt x="5608320" y="684441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990320" y="4297680"/>
            <a:ext cx="4206240" cy="219456"/>
            <a:chOff x="0" y="0"/>
            <a:chExt cx="5608320" cy="2926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08320" cy="292608"/>
            </a:xfrm>
            <a:custGeom>
              <a:avLst/>
              <a:gdLst/>
              <a:ahLst/>
              <a:cxnLst/>
              <a:rect r="r" b="b" t="t" l="l"/>
              <a:pathLst>
                <a:path h="2926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173200" y="4572000"/>
            <a:ext cx="1097280" cy="914400"/>
            <a:chOff x="0" y="0"/>
            <a:chExt cx="146304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4630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E5FA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173200" y="5486400"/>
            <a:ext cx="3840480" cy="914400"/>
            <a:chOff x="0" y="0"/>
            <a:chExt cx="512064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1206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 de canal officiel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173200" y="6492240"/>
            <a:ext cx="3840480" cy="2560320"/>
            <a:chOff x="0" y="0"/>
            <a:chExt cx="5120640" cy="34137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120640" cy="343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Les enseignants n'ont aucun espace pour partager leurs sujets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01168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46304"/>
            <a:ext cx="1463040" cy="1645920"/>
            <a:chOff x="0" y="0"/>
            <a:chExt cx="195072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36576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Présentation du Projet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2364743"/>
            <a:ext cx="10083803" cy="7340603"/>
            <a:chOff x="0" y="0"/>
            <a:chExt cx="13445071" cy="9787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3411199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449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770491"/>
                  </a:lnTo>
                  <a:cubicBezTo>
                    <a:pt x="13444982" y="9779889"/>
                    <a:pt x="13437363" y="9787382"/>
                    <a:pt x="13428090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3428090" y="9753600"/>
                  </a:lnTo>
                  <a:lnTo>
                    <a:pt x="13428090" y="9770491"/>
                  </a:lnTo>
                  <a:lnTo>
                    <a:pt x="13411200" y="9770491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651760"/>
            <a:ext cx="9144000" cy="1280160"/>
            <a:chOff x="0" y="0"/>
            <a:chExt cx="12192000" cy="1706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21920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2E5FA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KHINTS+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840480"/>
            <a:ext cx="9144000" cy="731520"/>
            <a:chOff x="0" y="0"/>
            <a:chExt cx="1219200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1920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Application Mobile Flutter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4754880"/>
            <a:ext cx="9326880" cy="4572000"/>
            <a:chOff x="0" y="0"/>
            <a:chExt cx="12435840" cy="609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3584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893" t="0" r="-1289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435840" cy="611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KHINTS+ centralise toutes les anciennes épreuves de l'ESP en un seul endroit structuré, consultable et téléchargeable.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Elle transforme une pratique informelle en une solution officielle, fiable et pérenne — directement sur smartphone.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36630" y="2358390"/>
            <a:ext cx="6621780" cy="2141220"/>
            <a:chOff x="0" y="0"/>
            <a:chExt cx="8829040" cy="285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25400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29040" cy="2854960"/>
            </a:xfrm>
            <a:custGeom>
              <a:avLst/>
              <a:gdLst/>
              <a:ahLst/>
              <a:cxnLst/>
              <a:rect r="r" b="b" t="t" l="l"/>
              <a:pathLst>
                <a:path h="2854960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2829560"/>
                  </a:lnTo>
                  <a:cubicBezTo>
                    <a:pt x="8829040" y="2843530"/>
                    <a:pt x="8817610" y="2854960"/>
                    <a:pt x="880364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8803640" y="2804160"/>
                  </a:lnTo>
                  <a:lnTo>
                    <a:pt x="8803640" y="2829560"/>
                  </a:lnTo>
                  <a:lnTo>
                    <a:pt x="8778240" y="2829560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38560" y="2560320"/>
            <a:ext cx="1828800" cy="1645920"/>
            <a:chOff x="0" y="0"/>
            <a:chExt cx="243840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4384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167360" y="2596896"/>
            <a:ext cx="4389120" cy="1645920"/>
            <a:chOff x="0" y="0"/>
            <a:chExt cx="585216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8521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3A6B"/>
                  </a:solidFill>
                  <a:latin typeface="Arial"/>
                  <a:ea typeface="Arial"/>
                  <a:cs typeface="Arial"/>
                  <a:sym typeface="Arial"/>
                </a:rPr>
                <a:t>Types de documents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3A6B"/>
                  </a:solidFill>
                  <a:latin typeface="Arial"/>
                  <a:ea typeface="Arial"/>
                  <a:cs typeface="Arial"/>
                  <a:sym typeface="Arial"/>
                </a:rPr>
                <a:t>DS · CC · Examen · Concours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36630" y="4772406"/>
            <a:ext cx="6621780" cy="2141220"/>
            <a:chOff x="0" y="0"/>
            <a:chExt cx="8829040" cy="285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29040" cy="2854960"/>
            </a:xfrm>
            <a:custGeom>
              <a:avLst/>
              <a:gdLst/>
              <a:ahLst/>
              <a:cxnLst/>
              <a:rect r="r" b="b" t="t" l="l"/>
              <a:pathLst>
                <a:path h="2854960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2829560"/>
                  </a:lnTo>
                  <a:cubicBezTo>
                    <a:pt x="8829040" y="2843530"/>
                    <a:pt x="8817610" y="2854960"/>
                    <a:pt x="880364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8803640" y="2804160"/>
                  </a:lnTo>
                  <a:lnTo>
                    <a:pt x="8803640" y="2829560"/>
                  </a:lnTo>
                  <a:lnTo>
                    <a:pt x="8778240" y="2829560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338560" y="4974336"/>
            <a:ext cx="1828800" cy="1645920"/>
            <a:chOff x="0" y="0"/>
            <a:chExt cx="243840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4384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4+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167360" y="5010912"/>
            <a:ext cx="4389120" cy="1645920"/>
            <a:chOff x="0" y="0"/>
            <a:chExt cx="585216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8521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Arial"/>
                  <a:ea typeface="Arial"/>
                  <a:cs typeface="Arial"/>
                  <a:sym typeface="Arial"/>
                </a:rPr>
                <a:t>Départements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Arial"/>
                  <a:ea typeface="Arial"/>
                  <a:cs typeface="Arial"/>
                  <a:sym typeface="Arial"/>
                </a:rPr>
                <a:t>couvertes dès le lancement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136630" y="7186422"/>
            <a:ext cx="6621780" cy="2141220"/>
            <a:chOff x="0" y="0"/>
            <a:chExt cx="8829040" cy="2854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25400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829040" cy="2854960"/>
            </a:xfrm>
            <a:custGeom>
              <a:avLst/>
              <a:gdLst/>
              <a:ahLst/>
              <a:cxnLst/>
              <a:rect r="r" b="b" t="t" l="l"/>
              <a:pathLst>
                <a:path h="2854960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2829560"/>
                  </a:lnTo>
                  <a:cubicBezTo>
                    <a:pt x="8829040" y="2843530"/>
                    <a:pt x="8817610" y="2854960"/>
                    <a:pt x="880364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8803640" y="2804160"/>
                  </a:lnTo>
                  <a:lnTo>
                    <a:pt x="8803640" y="2829560"/>
                  </a:lnTo>
                  <a:lnTo>
                    <a:pt x="8778240" y="2829560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338560" y="7388352"/>
            <a:ext cx="1828800" cy="1645920"/>
            <a:chOff x="0" y="0"/>
            <a:chExt cx="2438400" cy="2194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4384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67360" y="7424928"/>
            <a:ext cx="4389120" cy="1645920"/>
            <a:chOff x="0" y="0"/>
            <a:chExt cx="5852160" cy="2194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8521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3A6B"/>
                  </a:solidFill>
                  <a:latin typeface="Arial"/>
                  <a:ea typeface="Arial"/>
                  <a:cs typeface="Arial"/>
                  <a:sym typeface="Arial"/>
                </a:rPr>
                <a:t>Rôles utilisateurs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3A6B"/>
                  </a:solidFill>
                  <a:latin typeface="Arial"/>
                  <a:ea typeface="Arial"/>
                  <a:cs typeface="Arial"/>
                  <a:sym typeface="Arial"/>
                </a:rPr>
                <a:t>Étudiant · Enseignant · Admin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42983" y="7887719"/>
            <a:ext cx="6609083" cy="1854203"/>
            <a:chOff x="0" y="0"/>
            <a:chExt cx="8812111" cy="24722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8778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12022" cy="2472182"/>
            </a:xfrm>
            <a:custGeom>
              <a:avLst/>
              <a:gdLst/>
              <a:ahLst/>
              <a:cxnLst/>
              <a:rect r="r" b="b" t="t" l="l"/>
              <a:pathLst>
                <a:path h="247218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455291"/>
                  </a:lnTo>
                  <a:cubicBezTo>
                    <a:pt x="8812022" y="2464689"/>
                    <a:pt x="8804402" y="2472182"/>
                    <a:pt x="879513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8795131" y="2438400"/>
                  </a:lnTo>
                  <a:lnTo>
                    <a:pt x="8795131" y="2455291"/>
                  </a:lnTo>
                  <a:lnTo>
                    <a:pt x="8778240" y="245529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338560" y="7955280"/>
            <a:ext cx="2194560" cy="640080"/>
            <a:chOff x="0" y="0"/>
            <a:chExt cx="2926080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9260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Thème 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338560" y="8503920"/>
            <a:ext cx="6217920" cy="1097280"/>
            <a:chOff x="0" y="0"/>
            <a:chExt cx="8290560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9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82905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3A6B"/>
                  </a:solidFill>
                  <a:latin typeface="Arial"/>
                  <a:ea typeface="Arial"/>
                  <a:cs typeface="Arial"/>
                  <a:sym typeface="Arial"/>
                </a:rPr>
                <a:t>Application mobile de gestion et partage de ressources pédagogiques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01168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46304"/>
            <a:ext cx="1463040" cy="1645920"/>
            <a:chOff x="0" y="0"/>
            <a:chExt cx="195072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36576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Fonctionnalités Prévues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3063" y="2364743"/>
            <a:ext cx="4231643" cy="7523483"/>
            <a:chOff x="0" y="0"/>
            <a:chExt cx="5642191" cy="100313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56083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4210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014331"/>
                  </a:lnTo>
                  <a:cubicBezTo>
                    <a:pt x="5642102" y="10023729"/>
                    <a:pt x="5634482" y="10031222"/>
                    <a:pt x="56252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625211" y="9997440"/>
                  </a:lnTo>
                  <a:lnTo>
                    <a:pt x="5625211" y="10014331"/>
                  </a:lnTo>
                  <a:lnTo>
                    <a:pt x="5608320" y="1001433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5760" y="2377440"/>
            <a:ext cx="4206240" cy="822960"/>
            <a:chOff x="0" y="0"/>
            <a:chExt cx="56083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468880"/>
            <a:ext cx="3840480" cy="640080"/>
            <a:chOff x="0" y="0"/>
            <a:chExt cx="512064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1206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Navigation &amp; Recherche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080" y="3474720"/>
            <a:ext cx="128016" cy="1005840"/>
            <a:chOff x="0" y="0"/>
            <a:chExt cx="170688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" y="3438144"/>
            <a:ext cx="3383280" cy="1188720"/>
            <a:chOff x="0" y="0"/>
            <a:chExt cx="451104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Recherche full-text (matière, prof, année)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0080" y="5394960"/>
            <a:ext cx="128016" cy="1005840"/>
            <a:chOff x="0" y="0"/>
            <a:chExt cx="170688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0976" y="5358384"/>
            <a:ext cx="3383280" cy="1188720"/>
            <a:chOff x="0" y="0"/>
            <a:chExt cx="4511040" cy="158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Filtres : type · département · niveau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" y="7315200"/>
            <a:ext cx="128016" cy="1005840"/>
            <a:chOff x="0" y="0"/>
            <a:chExt cx="170688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0976" y="7278624"/>
            <a:ext cx="3383280" cy="1188720"/>
            <a:chOff x="0" y="0"/>
            <a:chExt cx="451104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Arborescence Dépt → Niveau → Matière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33623" y="2364743"/>
            <a:ext cx="4231643" cy="7523483"/>
            <a:chOff x="0" y="0"/>
            <a:chExt cx="5642191" cy="100313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6083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4210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014331"/>
                  </a:lnTo>
                  <a:cubicBezTo>
                    <a:pt x="5642102" y="10023729"/>
                    <a:pt x="5634482" y="10031222"/>
                    <a:pt x="56252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625211" y="9997440"/>
                  </a:lnTo>
                  <a:lnTo>
                    <a:pt x="5625211" y="10014331"/>
                  </a:lnTo>
                  <a:lnTo>
                    <a:pt x="5608320" y="1001433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846320" y="2377440"/>
            <a:ext cx="4206240" cy="822960"/>
            <a:chOff x="0" y="0"/>
            <a:chExt cx="56083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029200" y="2468880"/>
            <a:ext cx="3840480" cy="640080"/>
            <a:chOff x="0" y="0"/>
            <a:chExt cx="51206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206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Consultation &amp; Téléchargement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120640" y="3474720"/>
            <a:ext cx="128016" cy="1005840"/>
            <a:chOff x="0" y="0"/>
            <a:chExt cx="170688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31536" y="3438144"/>
            <a:ext cx="3383280" cy="1188720"/>
            <a:chOff x="0" y="0"/>
            <a:chExt cx="451104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Aperçu PDF intégré in-app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120640" y="5394960"/>
            <a:ext cx="128016" cy="1005840"/>
            <a:chOff x="0" y="0"/>
            <a:chExt cx="170688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431536" y="5358384"/>
            <a:ext cx="3383280" cy="1188720"/>
            <a:chOff x="0" y="0"/>
            <a:chExt cx="4511040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Téléchargement en un tap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120640" y="7315200"/>
            <a:ext cx="128016" cy="1005840"/>
            <a:chOff x="0" y="0"/>
            <a:chExt cx="170688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431536" y="7278624"/>
            <a:ext cx="3383280" cy="1188720"/>
            <a:chOff x="0" y="0"/>
            <a:chExt cx="4511040" cy="15849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Métadonnées complètes affichées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4183" y="2364743"/>
            <a:ext cx="4231643" cy="7523483"/>
            <a:chOff x="0" y="0"/>
            <a:chExt cx="5642191" cy="100313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6083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4210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014331"/>
                  </a:lnTo>
                  <a:cubicBezTo>
                    <a:pt x="5642102" y="10023729"/>
                    <a:pt x="5634482" y="10031222"/>
                    <a:pt x="56252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625211" y="9997440"/>
                  </a:lnTo>
                  <a:lnTo>
                    <a:pt x="5625211" y="10014331"/>
                  </a:lnTo>
                  <a:lnTo>
                    <a:pt x="5608320" y="1001433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326880" y="2377440"/>
            <a:ext cx="4206240" cy="822960"/>
            <a:chOff x="0" y="0"/>
            <a:chExt cx="560832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09760" y="2468880"/>
            <a:ext cx="3840480" cy="640080"/>
            <a:chOff x="0" y="0"/>
            <a:chExt cx="512064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1206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&amp; Modération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1200" y="3474720"/>
            <a:ext cx="128016" cy="1005840"/>
            <a:chOff x="0" y="0"/>
            <a:chExt cx="170688" cy="13411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912096" y="3438144"/>
            <a:ext cx="3383280" cy="1188720"/>
            <a:chOff x="0" y="0"/>
            <a:chExt cx="4511040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Formulaire d'upload structuré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0" y="5394960"/>
            <a:ext cx="128016" cy="1005840"/>
            <a:chOff x="0" y="0"/>
            <a:chExt cx="170688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912096" y="5358384"/>
            <a:ext cx="3383280" cy="1188720"/>
            <a:chOff x="0" y="0"/>
            <a:chExt cx="4511040" cy="15849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Validation admin avant publication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01200" y="7315200"/>
            <a:ext cx="128016" cy="1005840"/>
            <a:chOff x="0" y="0"/>
            <a:chExt cx="170688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912096" y="7278624"/>
            <a:ext cx="3383280" cy="1188720"/>
            <a:chOff x="0" y="0"/>
            <a:chExt cx="4511040" cy="1584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Signalement de documents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794743" y="2364743"/>
            <a:ext cx="4231643" cy="7523483"/>
            <a:chOff x="0" y="0"/>
            <a:chExt cx="5642191" cy="100313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56083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4210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014331"/>
                  </a:lnTo>
                  <a:cubicBezTo>
                    <a:pt x="5642102" y="10023729"/>
                    <a:pt x="5634482" y="10031222"/>
                    <a:pt x="56252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625211" y="9997440"/>
                  </a:lnTo>
                  <a:lnTo>
                    <a:pt x="5625211" y="10014331"/>
                  </a:lnTo>
                  <a:lnTo>
                    <a:pt x="5608320" y="1001433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807440" y="2377440"/>
            <a:ext cx="4206240" cy="822960"/>
            <a:chOff x="0" y="0"/>
            <a:chExt cx="560832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990320" y="2468880"/>
            <a:ext cx="3840480" cy="640080"/>
            <a:chOff x="0" y="0"/>
            <a:chExt cx="512064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51206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Administration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081760" y="3474720"/>
            <a:ext cx="128016" cy="1005840"/>
            <a:chOff x="0" y="0"/>
            <a:chExt cx="170688" cy="13411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392656" y="3438144"/>
            <a:ext cx="3383280" cy="1188720"/>
            <a:chOff x="0" y="0"/>
            <a:chExt cx="4511040" cy="15849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Tableau de bord + statistiques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081760" y="5394960"/>
            <a:ext cx="128016" cy="1005840"/>
            <a:chOff x="0" y="0"/>
            <a:chExt cx="170688" cy="13411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392656" y="5358384"/>
            <a:ext cx="3383280" cy="1188720"/>
            <a:chOff x="0" y="0"/>
            <a:chExt cx="4511040" cy="15849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Gestion des rôles et utilisateurs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081760" y="7315200"/>
            <a:ext cx="128016" cy="1005840"/>
            <a:chOff x="0" y="0"/>
            <a:chExt cx="170688" cy="13411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392656" y="7278624"/>
            <a:ext cx="3383280" cy="1188720"/>
            <a:chOff x="0" y="0"/>
            <a:chExt cx="4511040" cy="15849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11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45110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Validation / rejet avec commentaire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359407" y="9466831"/>
            <a:ext cx="17569177" cy="561337"/>
            <a:chOff x="0" y="0"/>
            <a:chExt cx="23425569" cy="7484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2340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3425657" cy="748538"/>
            </a:xfrm>
            <a:custGeom>
              <a:avLst/>
              <a:gdLst/>
              <a:ahLst/>
              <a:cxnLst/>
              <a:rect r="r" b="b" t="t" l="l"/>
              <a:pathLst>
                <a:path h="74853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740029"/>
                  </a:lnTo>
                  <a:cubicBezTo>
                    <a:pt x="23425657" y="744728"/>
                    <a:pt x="23421848" y="748538"/>
                    <a:pt x="234171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3417149" y="731520"/>
                  </a:lnTo>
                  <a:lnTo>
                    <a:pt x="23417149" y="740029"/>
                  </a:lnTo>
                  <a:lnTo>
                    <a:pt x="23408639" y="74002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9509760"/>
            <a:ext cx="16824960" cy="475488"/>
            <a:chOff x="0" y="0"/>
            <a:chExt cx="22433280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433280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70" r="0" b="-63947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22433280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2E5FA3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Fonctionnalités secondaires (bonus) : Favoris · Mode sombre · Notation &amp; commentaires · Notifications push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4864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" y="-182880"/>
            <a:ext cx="1463040" cy="1645920"/>
            <a:chOff x="0" y="0"/>
            <a:chExt cx="19507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7463" y="-89339"/>
            <a:ext cx="14630400" cy="1327010"/>
            <a:chOff x="0" y="0"/>
            <a:chExt cx="19507200" cy="1769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1769346"/>
            </a:xfrm>
            <a:custGeom>
              <a:avLst/>
              <a:gdLst/>
              <a:ahLst/>
              <a:cxnLst/>
              <a:rect r="r" b="b" t="t" l="l"/>
              <a:pathLst>
                <a:path h="176934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69346"/>
                  </a:lnTo>
                  <a:lnTo>
                    <a:pt x="0" y="17693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89" r="0" b="-1630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507200" cy="1797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Écrans</a:t>
              </a:r>
            </a:p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Principaux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38912" y="4596961"/>
            <a:ext cx="4363912" cy="1093079"/>
            <a:chOff x="0" y="0"/>
            <a:chExt cx="4867428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674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67428">
                  <a:moveTo>
                    <a:pt x="0" y="0"/>
                  </a:moveTo>
                  <a:lnTo>
                    <a:pt x="4867428" y="0"/>
                  </a:lnTo>
                  <a:lnTo>
                    <a:pt x="486742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5943" y="4760922"/>
            <a:ext cx="6121241" cy="765155"/>
            <a:chOff x="0" y="0"/>
            <a:chExt cx="682752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8275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Page d'accueil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25000" y="94442"/>
            <a:ext cx="4039246" cy="10098116"/>
          </a:xfrm>
          <a:custGeom>
            <a:avLst/>
            <a:gdLst/>
            <a:ahLst/>
            <a:cxnLst/>
            <a:rect r="r" b="b" t="t" l="l"/>
            <a:pathLst>
              <a:path h="10098116" w="4039246">
                <a:moveTo>
                  <a:pt x="0" y="0"/>
                </a:moveTo>
                <a:lnTo>
                  <a:pt x="4039246" y="0"/>
                </a:lnTo>
                <a:lnTo>
                  <a:pt x="4039246" y="10098116"/>
                </a:lnTo>
                <a:lnTo>
                  <a:pt x="0" y="10098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842070" y="4596961"/>
            <a:ext cx="2551176" cy="914400"/>
            <a:chOff x="0" y="0"/>
            <a:chExt cx="3401568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015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01568">
                  <a:moveTo>
                    <a:pt x="0" y="0"/>
                  </a:moveTo>
                  <a:lnTo>
                    <a:pt x="3401568" y="0"/>
                  </a:lnTo>
                  <a:lnTo>
                    <a:pt x="34015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842070" y="4734121"/>
            <a:ext cx="2381097" cy="640080"/>
            <a:chOff x="0" y="0"/>
            <a:chExt cx="3174797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74797" cy="853440"/>
            </a:xfrm>
            <a:custGeom>
              <a:avLst/>
              <a:gdLst/>
              <a:ahLst/>
              <a:cxnLst/>
              <a:rect r="r" b="b" t="t" l="l"/>
              <a:pathLst>
                <a:path h="853440" w="3174797">
                  <a:moveTo>
                    <a:pt x="0" y="0"/>
                  </a:moveTo>
                  <a:lnTo>
                    <a:pt x="3174797" y="0"/>
                  </a:lnTo>
                  <a:lnTo>
                    <a:pt x="3174797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-115053" b="-1058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174797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Parcourir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577612" y="-89339"/>
            <a:ext cx="4847749" cy="10287000"/>
          </a:xfrm>
          <a:custGeom>
            <a:avLst/>
            <a:gdLst/>
            <a:ahLst/>
            <a:cxnLst/>
            <a:rect r="r" b="b" t="t" l="l"/>
            <a:pathLst>
              <a:path h="10287000" w="4847749">
                <a:moveTo>
                  <a:pt x="0" y="0"/>
                </a:moveTo>
                <a:lnTo>
                  <a:pt x="4847749" y="0"/>
                </a:lnTo>
                <a:lnTo>
                  <a:pt x="48477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4864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" y="-182880"/>
            <a:ext cx="1463040" cy="1645920"/>
            <a:chOff x="0" y="0"/>
            <a:chExt cx="19507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7463" y="-89339"/>
            <a:ext cx="14630400" cy="1327010"/>
            <a:chOff x="0" y="0"/>
            <a:chExt cx="19507200" cy="1769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1769346"/>
            </a:xfrm>
            <a:custGeom>
              <a:avLst/>
              <a:gdLst/>
              <a:ahLst/>
              <a:cxnLst/>
              <a:rect r="r" b="b" t="t" l="l"/>
              <a:pathLst>
                <a:path h="176934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69346"/>
                  </a:lnTo>
                  <a:lnTo>
                    <a:pt x="0" y="17693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89" r="0" b="-1630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507200" cy="1797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Écrans</a:t>
              </a:r>
            </a:p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Principaux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7180" y="4917001"/>
            <a:ext cx="3048700" cy="914400"/>
            <a:chOff x="0" y="0"/>
            <a:chExt cx="4064933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934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64934">
                  <a:moveTo>
                    <a:pt x="0" y="0"/>
                  </a:moveTo>
                  <a:lnTo>
                    <a:pt x="4064934" y="0"/>
                  </a:lnTo>
                  <a:lnTo>
                    <a:pt x="406493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7180" y="5054161"/>
            <a:ext cx="5120640" cy="594360"/>
            <a:chOff x="0" y="0"/>
            <a:chExt cx="6827520" cy="792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792480"/>
            </a:xfrm>
            <a:custGeom>
              <a:avLst/>
              <a:gdLst/>
              <a:ahLst/>
              <a:cxnLst/>
              <a:rect r="r" b="b" t="t" l="l"/>
              <a:pathLst>
                <a:path h="792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024" r="0" b="-12171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2752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Détail du document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34116" y="0"/>
            <a:ext cx="5009601" cy="10197661"/>
          </a:xfrm>
          <a:custGeom>
            <a:avLst/>
            <a:gdLst/>
            <a:ahLst/>
            <a:cxnLst/>
            <a:rect r="r" b="b" t="t" l="l"/>
            <a:pathLst>
              <a:path h="10197661" w="5009601">
                <a:moveTo>
                  <a:pt x="0" y="0"/>
                </a:moveTo>
                <a:lnTo>
                  <a:pt x="5009601" y="0"/>
                </a:lnTo>
                <a:lnTo>
                  <a:pt x="5009601" y="10197661"/>
                </a:lnTo>
                <a:lnTo>
                  <a:pt x="0" y="10197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534267" y="4917001"/>
            <a:ext cx="2990088" cy="914400"/>
            <a:chOff x="0" y="0"/>
            <a:chExt cx="3986784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86784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07842" y="5006340"/>
            <a:ext cx="5120640" cy="640080"/>
            <a:chOff x="0" y="0"/>
            <a:chExt cx="682752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8275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Déposer un khint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690355" y="82627"/>
            <a:ext cx="3699085" cy="10204373"/>
          </a:xfrm>
          <a:custGeom>
            <a:avLst/>
            <a:gdLst/>
            <a:ahLst/>
            <a:cxnLst/>
            <a:rect r="r" b="b" t="t" l="l"/>
            <a:pathLst>
              <a:path h="10204373" w="3699085">
                <a:moveTo>
                  <a:pt x="0" y="0"/>
                </a:moveTo>
                <a:lnTo>
                  <a:pt x="3699085" y="0"/>
                </a:lnTo>
                <a:lnTo>
                  <a:pt x="3699085" y="10204373"/>
                </a:lnTo>
                <a:lnTo>
                  <a:pt x="0" y="10204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4864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" y="-182880"/>
            <a:ext cx="1463040" cy="1645920"/>
            <a:chOff x="0" y="0"/>
            <a:chExt cx="19507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7463" y="-89339"/>
            <a:ext cx="14630400" cy="1327010"/>
            <a:chOff x="0" y="0"/>
            <a:chExt cx="19507200" cy="1769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1769346"/>
            </a:xfrm>
            <a:custGeom>
              <a:avLst/>
              <a:gdLst/>
              <a:ahLst/>
              <a:cxnLst/>
              <a:rect r="r" b="b" t="t" l="l"/>
              <a:pathLst>
                <a:path h="176934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69346"/>
                  </a:lnTo>
                  <a:lnTo>
                    <a:pt x="0" y="17693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89" r="0" b="-1630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507200" cy="1797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Écrans</a:t>
              </a:r>
            </a:p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Principaux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1463040"/>
            <a:ext cx="3837698" cy="914400"/>
            <a:chOff x="0" y="0"/>
            <a:chExt cx="5116931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16931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16931">
                  <a:moveTo>
                    <a:pt x="0" y="0"/>
                  </a:moveTo>
                  <a:lnTo>
                    <a:pt x="5116931" y="0"/>
                  </a:lnTo>
                  <a:lnTo>
                    <a:pt x="5116931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F2A5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2880" y="1609344"/>
            <a:ext cx="5120640" cy="640080"/>
            <a:chOff x="0" y="0"/>
            <a:chExt cx="682752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 Dashboard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82880" y="2377440"/>
            <a:ext cx="4066884" cy="6212338"/>
          </a:xfrm>
          <a:custGeom>
            <a:avLst/>
            <a:gdLst/>
            <a:ahLst/>
            <a:cxnLst/>
            <a:rect r="r" b="b" t="t" l="l"/>
            <a:pathLst>
              <a:path h="6212338" w="4066884">
                <a:moveTo>
                  <a:pt x="0" y="0"/>
                </a:moveTo>
                <a:lnTo>
                  <a:pt x="4066884" y="0"/>
                </a:lnTo>
                <a:lnTo>
                  <a:pt x="4066884" y="6212338"/>
                </a:lnTo>
                <a:lnTo>
                  <a:pt x="0" y="6212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49764" y="2392299"/>
            <a:ext cx="4694038" cy="5923917"/>
          </a:xfrm>
          <a:custGeom>
            <a:avLst/>
            <a:gdLst/>
            <a:ahLst/>
            <a:cxnLst/>
            <a:rect r="r" b="b" t="t" l="l"/>
            <a:pathLst>
              <a:path h="5923917" w="4694038">
                <a:moveTo>
                  <a:pt x="0" y="0"/>
                </a:moveTo>
                <a:lnTo>
                  <a:pt x="4694038" y="0"/>
                </a:lnTo>
                <a:lnTo>
                  <a:pt x="4694038" y="5923917"/>
                </a:lnTo>
                <a:lnTo>
                  <a:pt x="0" y="592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43802" y="2471223"/>
            <a:ext cx="5060832" cy="5854268"/>
          </a:xfrm>
          <a:custGeom>
            <a:avLst/>
            <a:gdLst/>
            <a:ahLst/>
            <a:cxnLst/>
            <a:rect r="r" b="b" t="t" l="l"/>
            <a:pathLst>
              <a:path h="5854268" w="5060832">
                <a:moveTo>
                  <a:pt x="0" y="0"/>
                </a:moveTo>
                <a:lnTo>
                  <a:pt x="5060832" y="0"/>
                </a:lnTo>
                <a:lnTo>
                  <a:pt x="5060832" y="5854267"/>
                </a:lnTo>
                <a:lnTo>
                  <a:pt x="0" y="5854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83856" y="2471223"/>
            <a:ext cx="4504144" cy="6024773"/>
          </a:xfrm>
          <a:custGeom>
            <a:avLst/>
            <a:gdLst/>
            <a:ahLst/>
            <a:cxnLst/>
            <a:rect r="r" b="b" t="t" l="l"/>
            <a:pathLst>
              <a:path h="6024773" w="4504144">
                <a:moveTo>
                  <a:pt x="0" y="0"/>
                </a:moveTo>
                <a:lnTo>
                  <a:pt x="4504144" y="0"/>
                </a:lnTo>
                <a:lnTo>
                  <a:pt x="4504144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4864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5943" y="-182880"/>
            <a:ext cx="1463040" cy="1645920"/>
            <a:chOff x="0" y="0"/>
            <a:chExt cx="19507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11680" y="0"/>
            <a:ext cx="14630400" cy="1280160"/>
            <a:chOff x="0" y="0"/>
            <a:chExt cx="195072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5072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Écrans Principaux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83680" y="9469122"/>
            <a:ext cx="5120640" cy="2286000"/>
            <a:chOff x="0" y="0"/>
            <a:chExt cx="6827520" cy="304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78" t="0" r="-727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827520" cy="305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Statistiques + Modération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4229100"/>
            <a:ext cx="3120589" cy="914400"/>
            <a:chOff x="0" y="0"/>
            <a:chExt cx="4160786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0786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60786">
                  <a:moveTo>
                    <a:pt x="0" y="0"/>
                  </a:moveTo>
                  <a:lnTo>
                    <a:pt x="4160786" y="0"/>
                  </a:lnTo>
                  <a:lnTo>
                    <a:pt x="416078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8878" y="4366260"/>
            <a:ext cx="5120640" cy="700942"/>
            <a:chOff x="0" y="0"/>
            <a:chExt cx="6827520" cy="9345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934589"/>
            </a:xfrm>
            <a:custGeom>
              <a:avLst/>
              <a:gdLst/>
              <a:ahLst/>
              <a:cxnLst/>
              <a:rect r="r" b="b" t="t" l="l"/>
              <a:pathLst>
                <a:path h="934589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34589"/>
                  </a:lnTo>
                  <a:lnTo>
                    <a:pt x="0" y="934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686" r="0" b="-880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827520" cy="953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Connexion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583680" y="0"/>
            <a:ext cx="4775069" cy="10299510"/>
          </a:xfrm>
          <a:custGeom>
            <a:avLst/>
            <a:gdLst/>
            <a:ahLst/>
            <a:cxnLst/>
            <a:rect r="r" b="b" t="t" l="l"/>
            <a:pathLst>
              <a:path h="10299510" w="4775069">
                <a:moveTo>
                  <a:pt x="0" y="0"/>
                </a:moveTo>
                <a:lnTo>
                  <a:pt x="4775069" y="0"/>
                </a:lnTo>
                <a:lnTo>
                  <a:pt x="4775069" y="10299510"/>
                </a:lnTo>
                <a:lnTo>
                  <a:pt x="0" y="1029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01168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46304"/>
            <a:ext cx="1463040" cy="1645920"/>
            <a:chOff x="0" y="0"/>
            <a:chExt cx="195072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36576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Technique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2468880"/>
            <a:ext cx="329184" cy="1188720"/>
            <a:chOff x="0" y="0"/>
            <a:chExt cx="438912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8047" y="2462527"/>
            <a:ext cx="16837657" cy="1201417"/>
            <a:chOff x="0" y="0"/>
            <a:chExt cx="22450209" cy="16018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224332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502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593469"/>
                  </a:lnTo>
                  <a:cubicBezTo>
                    <a:pt x="22450298" y="1598168"/>
                    <a:pt x="22446489" y="1601978"/>
                    <a:pt x="224417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22441790" y="1584960"/>
                  </a:lnTo>
                  <a:lnTo>
                    <a:pt x="22441790" y="1593469"/>
                  </a:lnTo>
                  <a:lnTo>
                    <a:pt x="22433280" y="15934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" y="2615184"/>
            <a:ext cx="4206240" cy="914400"/>
            <a:chOff x="0" y="0"/>
            <a:chExt cx="56083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6083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 Mobile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69280" y="2688336"/>
            <a:ext cx="4023360" cy="768096"/>
            <a:chOff x="0" y="0"/>
            <a:chExt cx="536448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669280" y="2688336"/>
            <a:ext cx="4023360" cy="768096"/>
            <a:chOff x="0" y="0"/>
            <a:chExt cx="536448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36448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Flutter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58400" y="2615184"/>
            <a:ext cx="7315200" cy="914400"/>
            <a:chOff x="0" y="0"/>
            <a:chExt cx="975360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Interface cross-platform Android &amp; iOS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8640" y="3931920"/>
            <a:ext cx="329184" cy="1188720"/>
            <a:chOff x="0" y="0"/>
            <a:chExt cx="438912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08047" y="3925567"/>
            <a:ext cx="16837657" cy="1201417"/>
            <a:chOff x="0" y="0"/>
            <a:chExt cx="22450209" cy="1601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8509"/>
              <a:ext cx="224332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502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593469"/>
                  </a:lnTo>
                  <a:cubicBezTo>
                    <a:pt x="22450298" y="1598168"/>
                    <a:pt x="22446489" y="1601978"/>
                    <a:pt x="224417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22441790" y="1584960"/>
                  </a:lnTo>
                  <a:lnTo>
                    <a:pt x="22441790" y="1593469"/>
                  </a:lnTo>
                  <a:lnTo>
                    <a:pt x="22433280" y="15934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4078224"/>
            <a:ext cx="4206240" cy="914400"/>
            <a:chOff x="0" y="0"/>
            <a:chExt cx="560832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6083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/ API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669280" y="4151376"/>
            <a:ext cx="4023360" cy="768096"/>
            <a:chOff x="0" y="0"/>
            <a:chExt cx="536448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5FA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669280" y="4151376"/>
            <a:ext cx="4023360" cy="768096"/>
            <a:chOff x="0" y="0"/>
            <a:chExt cx="536448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36448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/ FastAPI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58400" y="4078224"/>
            <a:ext cx="7315200" cy="914400"/>
            <a:chOff x="0" y="0"/>
            <a:chExt cx="97536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API REST — gestion ressources &amp; modération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8640" y="5394960"/>
            <a:ext cx="329184" cy="1188720"/>
            <a:chOff x="0" y="0"/>
            <a:chExt cx="438912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8047" y="5388607"/>
            <a:ext cx="16837657" cy="1201417"/>
            <a:chOff x="0" y="0"/>
            <a:chExt cx="22450209" cy="160188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8509" y="8509"/>
              <a:ext cx="224332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502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593469"/>
                  </a:lnTo>
                  <a:cubicBezTo>
                    <a:pt x="22450298" y="1598168"/>
                    <a:pt x="22446489" y="1601978"/>
                    <a:pt x="224417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22441790" y="1584960"/>
                  </a:lnTo>
                  <a:lnTo>
                    <a:pt x="22441790" y="1593469"/>
                  </a:lnTo>
                  <a:lnTo>
                    <a:pt x="22433280" y="15934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" y="5541264"/>
            <a:ext cx="4206240" cy="914400"/>
            <a:chOff x="0" y="0"/>
            <a:chExt cx="560832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6083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 de données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669280" y="5614416"/>
            <a:ext cx="4023360" cy="768096"/>
            <a:chOff x="0" y="0"/>
            <a:chExt cx="5364480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669280" y="5614416"/>
            <a:ext cx="4023360" cy="768096"/>
            <a:chOff x="0" y="0"/>
            <a:chExt cx="536448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36448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MySQL (Railway)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58400" y="5541264"/>
            <a:ext cx="7315200" cy="914400"/>
            <a:chOff x="0" y="0"/>
            <a:chExt cx="97536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Métadonnées, utilisateurs, rôles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48640" y="6858000"/>
            <a:ext cx="329184" cy="1188720"/>
            <a:chOff x="0" y="0"/>
            <a:chExt cx="438912" cy="1584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8912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08047" y="6851647"/>
            <a:ext cx="16837657" cy="1201417"/>
            <a:chOff x="0" y="0"/>
            <a:chExt cx="22450209" cy="16018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224332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4502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593469"/>
                  </a:lnTo>
                  <a:cubicBezTo>
                    <a:pt x="22450298" y="1598168"/>
                    <a:pt x="22446489" y="1601978"/>
                    <a:pt x="224417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22441790" y="1584960"/>
                  </a:lnTo>
                  <a:lnTo>
                    <a:pt x="22441790" y="1593469"/>
                  </a:lnTo>
                  <a:lnTo>
                    <a:pt x="22433280" y="15934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88720" y="7004304"/>
            <a:ext cx="4206240" cy="914400"/>
            <a:chOff x="0" y="0"/>
            <a:chExt cx="560832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6083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Stockage fichiers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669280" y="7077456"/>
            <a:ext cx="4023360" cy="768096"/>
            <a:chOff x="0" y="0"/>
            <a:chExt cx="536448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E4D8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669280" y="7077456"/>
            <a:ext cx="4023360" cy="768096"/>
            <a:chOff x="0" y="0"/>
            <a:chExt cx="5364480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536448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Google Drive API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058400" y="7004304"/>
            <a:ext cx="7315200" cy="914400"/>
            <a:chOff x="0" y="0"/>
            <a:chExt cx="9753600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Hébergement et accès aux PDFs (khints)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48640" y="8321040"/>
            <a:ext cx="329184" cy="1188720"/>
            <a:chOff x="0" y="0"/>
            <a:chExt cx="438912" cy="15849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8912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F2A5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08047" y="8314687"/>
            <a:ext cx="16837657" cy="1201417"/>
            <a:chOff x="0" y="0"/>
            <a:chExt cx="22450209" cy="160188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224332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4502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593469"/>
                  </a:lnTo>
                  <a:cubicBezTo>
                    <a:pt x="22450298" y="1598168"/>
                    <a:pt x="22446489" y="1601978"/>
                    <a:pt x="224417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22441790" y="1584960"/>
                  </a:lnTo>
                  <a:lnTo>
                    <a:pt x="22441790" y="1593469"/>
                  </a:lnTo>
                  <a:lnTo>
                    <a:pt x="22433280" y="15934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88720" y="8467344"/>
            <a:ext cx="4206240" cy="914400"/>
            <a:chOff x="0" y="0"/>
            <a:chExt cx="560832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56083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Authentification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669280" y="8540496"/>
            <a:ext cx="4023360" cy="768096"/>
            <a:chOff x="0" y="0"/>
            <a:chExt cx="5364480" cy="10241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F2A5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669280" y="8540496"/>
            <a:ext cx="4023360" cy="768096"/>
            <a:chOff x="0" y="0"/>
            <a:chExt cx="536448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536448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JWT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058400" y="8467344"/>
            <a:ext cx="7315200" cy="914400"/>
            <a:chOff x="0" y="0"/>
            <a:chExt cx="975360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Gestion sécurisée des sessions et rôles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35943" y="9314183"/>
            <a:ext cx="17216123" cy="756923"/>
            <a:chOff x="0" y="0"/>
            <a:chExt cx="22954831" cy="10092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292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954743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92251"/>
                  </a:lnTo>
                  <a:cubicBezTo>
                    <a:pt x="22954743" y="1001649"/>
                    <a:pt x="22947123" y="1009142"/>
                    <a:pt x="22937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2937851" y="975360"/>
                  </a:lnTo>
                  <a:lnTo>
                    <a:pt x="22937851" y="992251"/>
                  </a:lnTo>
                  <a:lnTo>
                    <a:pt x="22920961" y="9922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14400" y="9381744"/>
            <a:ext cx="16459200" cy="640080"/>
            <a:chOff x="0" y="0"/>
            <a:chExt cx="2194560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21945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E5FA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cohérente avec les compétences L3 GLSi — Déploiement simple et maintenable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11680"/>
            <a:chOff x="0" y="0"/>
            <a:chExt cx="2438400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01168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146304"/>
            <a:ext cx="1463040" cy="1645920"/>
            <a:chOff x="0" y="0"/>
            <a:chExt cx="195072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5072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36576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Valeur Ajoutée &amp; Conclusion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44800" y="548640"/>
            <a:ext cx="2377440" cy="914400"/>
            <a:chOff x="0" y="0"/>
            <a:chExt cx="31699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KHINTS+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2364743"/>
            <a:ext cx="5694683" cy="3134363"/>
            <a:chOff x="0" y="0"/>
            <a:chExt cx="7592911" cy="4179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31520" y="2560320"/>
            <a:ext cx="1097280" cy="914400"/>
            <a:chOff x="0" y="0"/>
            <a:chExt cx="14630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3474720"/>
            <a:ext cx="5303520" cy="731520"/>
            <a:chOff x="0" y="0"/>
            <a:chExt cx="70713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Gain de temps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520" y="4206240"/>
            <a:ext cx="5303520" cy="1188720"/>
            <a:chOff x="0" y="0"/>
            <a:chExt cx="707136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Toutes les ressources en un seul endroit, filtrables en quelques secondes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9543" y="2364743"/>
            <a:ext cx="5694683" cy="3134363"/>
            <a:chOff x="0" y="0"/>
            <a:chExt cx="7592911" cy="4179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675120" y="2560320"/>
            <a:ext cx="1097280" cy="914400"/>
            <a:chOff x="0" y="0"/>
            <a:chExt cx="146304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75120" y="3474720"/>
            <a:ext cx="5303520" cy="731520"/>
            <a:chOff x="0" y="0"/>
            <a:chExt cx="7071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Qualité garantie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75120" y="4206240"/>
            <a:ext cx="5303520" cy="1188720"/>
            <a:chOff x="0" y="0"/>
            <a:chExt cx="7071360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Système de modération : aucun document de mauvaise qualité publié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23143" y="2364743"/>
            <a:ext cx="5694683" cy="3134363"/>
            <a:chOff x="0" y="0"/>
            <a:chExt cx="7592911" cy="41791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18720" y="2560320"/>
            <a:ext cx="1097280" cy="914400"/>
            <a:chOff x="0" y="0"/>
            <a:chExt cx="146304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618720" y="3474720"/>
            <a:ext cx="5303520" cy="731520"/>
            <a:chOff x="0" y="0"/>
            <a:chExt cx="707136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Accessibilité mobile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18720" y="4206240"/>
            <a:ext cx="5303520" cy="1188720"/>
            <a:chOff x="0" y="0"/>
            <a:chExt cx="707136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Disponible partout, à tout moment, depuis n'importe quel smartphone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5943" y="5839463"/>
            <a:ext cx="5694683" cy="3134363"/>
            <a:chOff x="0" y="0"/>
            <a:chExt cx="7592911" cy="4179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6035040"/>
            <a:ext cx="1097280" cy="914400"/>
            <a:chOff x="0" y="0"/>
            <a:chExt cx="146304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🏛️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1520" y="6949440"/>
            <a:ext cx="5303520" cy="731520"/>
            <a:chOff x="0" y="0"/>
            <a:chExt cx="707136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Canal officiel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31520" y="7680960"/>
            <a:ext cx="5303520" cy="1188720"/>
            <a:chOff x="0" y="0"/>
            <a:chExt cx="7071360" cy="1584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Les enseignants disposent d'un espace structuré pour partager leurs sujets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79543" y="5839463"/>
            <a:ext cx="5694683" cy="3134363"/>
            <a:chOff x="0" y="0"/>
            <a:chExt cx="7592911" cy="41791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675120" y="6035040"/>
            <a:ext cx="1097280" cy="914400"/>
            <a:chOff x="0" y="0"/>
            <a:chExt cx="1463040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♾️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75120" y="6949440"/>
            <a:ext cx="5303520" cy="731520"/>
            <a:chOff x="0" y="0"/>
            <a:chExt cx="7071360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Pérennité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675120" y="7680960"/>
            <a:ext cx="5303520" cy="1188720"/>
            <a:chOff x="0" y="0"/>
            <a:chExt cx="7071360" cy="1584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Fin des liens expirés et des fichiers perdus — ressources centralisées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23143" y="5839463"/>
            <a:ext cx="5694683" cy="3134363"/>
            <a:chOff x="0" y="0"/>
            <a:chExt cx="7592911" cy="417915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75590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BF2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5928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162171"/>
                  </a:lnTo>
                  <a:cubicBezTo>
                    <a:pt x="7592822" y="4171569"/>
                    <a:pt x="7585202" y="4179062"/>
                    <a:pt x="757593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575931" y="4145280"/>
                  </a:lnTo>
                  <a:lnTo>
                    <a:pt x="7575931" y="4162171"/>
                  </a:lnTo>
                  <a:lnTo>
                    <a:pt x="7559040" y="4162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618720" y="6035040"/>
            <a:ext cx="1097280" cy="914400"/>
            <a:chOff x="0" y="0"/>
            <a:chExt cx="146304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85725"/>
              <a:ext cx="14630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🎓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618720" y="6949440"/>
            <a:ext cx="5303520" cy="731520"/>
            <a:chOff x="0" y="0"/>
            <a:chExt cx="707136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7071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Héritage ESP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618720" y="7680960"/>
            <a:ext cx="5303520" cy="1188720"/>
            <a:chOff x="0" y="0"/>
            <a:chExt cx="7071360" cy="1584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707136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KHINTS+ institutionnalise une tradition informelle de solidarité étudiante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0" y="9235440"/>
            <a:ext cx="18288000" cy="1051560"/>
            <a:chOff x="0" y="0"/>
            <a:chExt cx="24384000" cy="14020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384000" cy="1402080"/>
            </a:xfrm>
            <a:custGeom>
              <a:avLst/>
              <a:gdLst/>
              <a:ahLst/>
              <a:cxnLst/>
              <a:rect r="r" b="b" t="t" l="l"/>
              <a:pathLst>
                <a:path h="14020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2080"/>
                  </a:lnTo>
                  <a:lnTo>
                    <a:pt x="0" y="1402080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48640" y="9326880"/>
            <a:ext cx="17190720" cy="822960"/>
            <a:chOff x="0" y="0"/>
            <a:chExt cx="22920960" cy="10972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920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020" r="0" b="-35702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229209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KHINTS+ — Prêt à démarrer le développement dès validation du Livrable 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DAHHiPofVMg</dc:identifier>
  <dcterms:modified xsi:type="dcterms:W3CDTF">2011-08-01T06:04:30Z</dcterms:modified>
  <cp:revision>1</cp:revision>
  <dc:title>Groupe 2 :</dc:title>
</cp:coreProperties>
</file>